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mbria"/>
              </a:rPr>
              <a:t>Gesamtauslastung in Prozent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Gesamtauslastung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Jahr 1</c:v>
                  </c:pt>
                  <c:pt idx="1">
                    <c:v>Jahr 2</c:v>
                  </c:pt>
                  <c:pt idx="2">
                    <c:v>Jahr 3</c:v>
                  </c:pt>
                  <c:pt idx="3">
                    <c:v>Jahr 4</c:v>
                  </c:pt>
                  <c:pt idx="4">
                    <c:v>Jahr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44.8</c:v>
                </c:pt>
                <c:pt idx="2">
                  <c:v>50.9</c:v>
                </c:pt>
                <c:pt idx="3">
                  <c:v>52.6</c:v>
                </c:pt>
                <c:pt idx="4">
                  <c:v>53.6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mbria"/>
              </a:rPr>
              <a:t>Umsatz netto in Tausend Euro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Courtvermietung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Jahr 1</c:v>
                  </c:pt>
                  <c:pt idx="1">
                    <c:v>Jahr 2</c:v>
                  </c:pt>
                  <c:pt idx="2">
                    <c:v>Jahr 3</c:v>
                  </c:pt>
                  <c:pt idx="3">
                    <c:v>Jahr 4</c:v>
                  </c:pt>
                  <c:pt idx="4">
                    <c:v>Jahr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286</c:v>
                </c:pt>
                <c:pt idx="1">
                  <c:v>332</c:v>
                </c:pt>
                <c:pt idx="2">
                  <c:v>372</c:v>
                </c:pt>
                <c:pt idx="3">
                  <c:v>384</c:v>
                </c:pt>
                <c:pt idx="4">
                  <c:v>390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Zusatzerlöse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Jahr 1</c:v>
                  </c:pt>
                  <c:pt idx="1">
                    <c:v>Jahr 2</c:v>
                  </c:pt>
                  <c:pt idx="2">
                    <c:v>Jahr 3</c:v>
                  </c:pt>
                  <c:pt idx="3">
                    <c:v>Jahr 4</c:v>
                  </c:pt>
                  <c:pt idx="4">
                    <c:v>Jahr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</c:v>
                </c:pt>
                <c:pt idx="1">
                  <c:v>100</c:v>
                </c:pt>
                <c:pt idx="2">
                  <c:v>122</c:v>
                </c:pt>
                <c:pt idx="3">
                  <c:v>130</c:v>
                </c:pt>
                <c:pt idx="4">
                  <c:v>136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7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mbria"/>
              </a:rPr>
              <a:t>Betriebskosten Jahr 3: 402 T€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Kosten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&quot; T€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Personal</c:v>
                  </c:pt>
                  <c:pt idx="1">
                    <c:v>Miete inkl. NK</c:v>
                  </c:pt>
                  <c:pt idx="2">
                    <c:v>Übrige Kosten</c:v>
                  </c:pt>
                  <c:pt idx="3">
                    <c:v>Energie</c:v>
                  </c:pt>
                  <c:pt idx="4">
                    <c:v>Wareneinsatz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126</c:v>
                </c:pt>
                <c:pt idx="1">
                  <c:v>122</c:v>
                </c:pt>
                <c:pt idx="2">
                  <c:v>74</c:v>
                </c:pt>
                <c:pt idx="3">
                  <c:v>48</c:v>
                </c:pt>
                <c:pt idx="4">
                  <c:v>32</c:v>
                </c:pt>
              </c:numCache>
            </c:numRef>
          </c:val>
        </c:ser>
        <c:dLbls>
          <c:numFmt formatCode="#,##0&quot; T€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mbria"/>
              </a:rPr>
              <a:t>EBITDA in Tausend Euro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&quot; T€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Jahr 1</c:v>
                  </c:pt>
                  <c:pt idx="1">
                    <c:v>Jahr 2</c:v>
                  </c:pt>
                  <c:pt idx="2">
                    <c:v>Jahr 3</c:v>
                  </c:pt>
                  <c:pt idx="3">
                    <c:v>Jahr 4</c:v>
                  </c:pt>
                  <c:pt idx="4">
                    <c:v>Jahr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57</c:v>
                </c:pt>
                <c:pt idx="2">
                  <c:v>92</c:v>
                </c:pt>
                <c:pt idx="3">
                  <c:v>99</c:v>
                </c:pt>
                <c:pt idx="4">
                  <c:v>101</c:v>
                </c:pt>
              </c:numCache>
            </c:numRef>
          </c:val>
        </c:ser>
        <c:dLbls>
          <c:numFmt formatCode="#,##0&quot; T€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mbria"/>
              </a:rPr>
              <a:t>EBITDA Jahr 3 unter Stress, in Tausend Euro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Jahr 3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&quot; T€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Auslastung +10 %</c:v>
                  </c:pt>
                  <c:pt idx="1">
                    <c:v>Basisplan</c:v>
                  </c:pt>
                  <c:pt idx="2">
                    <c:v>Energie +30 %</c:v>
                  </c:pt>
                  <c:pt idx="3">
                    <c:v>Miete +1,00 €/m²</c:v>
                  </c:pt>
                  <c:pt idx="4">
                    <c:v>Miete +1,50 €/m²</c:v>
                  </c:pt>
                  <c:pt idx="5">
                    <c:v>Auslastung −10 %</c:v>
                  </c:pt>
                  <c:pt idx="6">
                    <c:v>Worst Case kombiniert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138</c:v>
                </c:pt>
                <c:pt idx="1">
                  <c:v>92</c:v>
                </c:pt>
                <c:pt idx="2">
                  <c:v>77</c:v>
                </c:pt>
                <c:pt idx="3">
                  <c:v>73</c:v>
                </c:pt>
                <c:pt idx="4">
                  <c:v>64</c:v>
                </c:pt>
                <c:pt idx="5">
                  <c:v>45</c:v>
                </c:pt>
                <c:pt idx="6">
                  <c:v>13</c:v>
                </c:pt>
              </c:numCache>
            </c:numRef>
          </c:val>
        </c:ser>
        <c:dLbls>
          <c:numFmt formatCode="#,##0&quot; T€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Wir bauen die erste ganzjährig bespielbare Padelanlage der Region. Die Halle wird gemietet, nicht gebaut — das halbiert den Kapitalbedarf und begrenzt das Risiko.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überschaubares Volumen, hoher Eigenkapitalanteil, schlanker Betrieb.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Verein TC Weiß-Blau hat im April 2026 zwei Außenplätze eröffnet. Die sind von November bis März kaum bespielbar — daraus wird unsere Winterkooperation.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Für die Bank entscheidend: Mietvertrag 10 Jahre fest plus zwei Optionen à 5 Jahre, mit aufschiebender Bedingung Baugenehmigung.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Prime-Time füllt sich erfahrungsgemäß von allein. Die eigentliche Vertriebsaufgabe ist das Fenster 9 bis 17 Uhr: Abos, Kurse, Firmen, Hochschule.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Wichtigster Punkt des Gesprächs: KfW und LfA laufen über die Hausbank. Die 80 % Haftungsfreistellung der KfW plus BBB-Bürgschaft reduzieren das Bankrisiko erheblich.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Abschluss: Wir bitten um eine Einschätzung zur grundsätzlichen Finanzierbarkeit, bevor wir Kosten für Bauvoranfrage und Gutachten auslösen.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PADEL-HALLE LANDSHUT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erste Indoor-Padelanlage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Niederbayerns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422452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Finanzierungsanfrage über 507.300 € — vier Courts in einer gemieteten Bestandshalle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 Landshut GmbH i. G.   ·   Stand Juli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VORHABEN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 einen Blick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7452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96112" y="25694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Indoor-Courts in gemieteter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Bestandshalle, 1.500 m²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5032" y="187452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657 T€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85032" y="25694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Gesamtkapitalbedarf inkl.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T€ Liquiditätsreserve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87452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22,8 %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73952" y="25694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Eigenkapitalquote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inkl. Kundenvorkasse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2872" y="187452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494 T€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62872" y="25694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Umsatz im dritten Jahr,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T€ EBITDA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3886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Landshut oder Umkreis 15 km — Suche läuft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453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Betriebsmodell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44531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Access: App-Buchung, Selbstzutritt, Personal nur zu Stoßzeiten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0200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Personalquote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502005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25,5 % vom Umsatz — Voraussetzung für die Profitabilität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5869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 bis Eröffnung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558698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Monate ab Standortzusage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unterversorgte Region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 ist die am schnellsten wachsende Sportart Europas. Für 2026 sind in Deutschland über 600 neue Anlagen geplant — in Landshut bisher keine einzige Halle.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230.000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017520" y="2560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Einwohner im Einzugsgebiet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(Stadt 73.000 + Landkreis 155.442)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017520" y="37947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Padelcourts in der Region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im Freien, vereinsgebunden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44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017520" y="50292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kommerzielle Indoor-Anlagen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Umkreis von 60 km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0" y="1481328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Versorgungsgrad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9244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Court je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2468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4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115.000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09244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Einwohner in Landshut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Padel-reifen Märkten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92440" y="41422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8.000–15.000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09244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Einwohner je Court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92440" y="5212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8–14 unterversorgt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Deutscher Padel Verband · PadelCompass (Bayern: 89 Anlagen, 275 Courts) · Einwohnerzahlen Stadt und Landkreis Landshut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GESCHÄFTSMODELL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Mieten statt bauen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Halle wird langfristig angemietet und in Eigenregie zur Sportstätte umgebaut. Das senkt den Kapitalbedarf um den Faktor drei und begrenzt das Verlustrisiko.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Mieten (unser Weg)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Neubau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889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0" y="27889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577 T€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03920" y="27889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1,2–1,8 Mio. 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4472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Eigenkapitalbedarf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34472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03920" y="34472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300–450 T€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0565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0565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 bis Eröffnung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410565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Monate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03920" y="410565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Monate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47640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Fixkosten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47640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Miete 122 T€/Jahr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03920" y="47640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Kapitaldienst + Instandhaltung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42239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4223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bei Fehlschlag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46320" y="54223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 demontieren,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 beenden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03920" y="54223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Spezialimmobilie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Hals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Ankaufsoption ist im Mietvertrag vorgesehen — der Weg in die Immobilie bleibt offen.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ERLÖSMODELL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Preise und Auslastung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4650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331720" y="17465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3172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Mo–Fr 17–22, Sa/So 9–19  ·  11,00 € je Spieler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53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31720" y="2953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31720" y="33101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Mo–Fr 9–17  ·  7,50 € je Spieler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014216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22 €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31720" y="4160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 &amp; Spät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451713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 und 22–23 Uhr  ·  5,50 € je Spieler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Preise je Court und Stunde, brutto. 23.104 buchbare Court-Stunden pro Jahr.</a:t>
            </a:r>
            <a:endParaRPr lang="en-US" sz="11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035040" y="1600200"/>
          <a:ext cx="5577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035040" y="502920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5029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Prime-Time-Auslastung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83880" y="5029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65 % in Jahr 1  →  81 % in Jahr 5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liegt bei 46,2 % Gesamtauslastung — im dritten Jahr geplant sind 50,9 %.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Umsatzentwicklung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5448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Zusatzerlöse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3816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Getränke, Snacks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32720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T€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3816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Kurse und Training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32720" y="2743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T€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3816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32720" y="3246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T€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und Verleih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332720" y="3749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T€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38160" y="4251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Turniere, Sponsoring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332720" y="4251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T€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38160" y="4892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 des Umsatzes im dritten Jahr stammen nicht aus der Courtmiete — das stabilisiert das Ergebnis.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Werte für Jahr 3. Alle Angaben netto — kurzfristige Sportanlagenvermietung ist mit 19 % Umsatzsteuer steuerpflichtig.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Kostenstruktur im dritten Jahr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Personalquote 25,5 %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0" y="230428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Access und Selbstbedienung halten die Besetzung schlank. Bei durchgehender Besetzung wären es 35–40 % — dann trägt sich das Modell nicht.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0" y="370332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Miete ist der zweite Hebel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0" y="427024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Euro je m² kostet 18 T€ EBITDA im Jahr. Harte Obergrenze in der Standortsuche: 6,00 €/m².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 und Cashflow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949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98348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983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 nach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Kapitaldienst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560320" y="5074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560320" y="5349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−21 T€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566160" y="5074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2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566160" y="5349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 T€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0" y="5074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3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0" y="5349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 T€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77840" y="5074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4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77840" y="5349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 T€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83680" y="5074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5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83680" y="5349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 T€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863840" y="155448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81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EBITDA-Marge Jahr 3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138160" y="20208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18,6 %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138160" y="24414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 positiv ab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138160" y="2679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Jahr 2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138160" y="3099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Kapitaldienst Jahr 3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13816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T€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138160" y="37581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Liquidität Ende Jahr 1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138160" y="3995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 T€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8138160" y="4416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entspricht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138160" y="46542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 Monatsfixkosten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813816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Break-even-Auslastung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138160" y="5312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46,2 %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Verluste in Jahr 1 und 2 stammen aus der Abschreibung und sind nicht zahlungswirksam. Ertragsteuern fallen wegen Verlustvortrag erst ab Jahr 5 an.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MITTELVERWENDUNG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Wofür das Geld verwendet wird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Courts, Beleuchtung, Bodenaufbau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83480" y="1728216"/>
            <a:ext cx="2194560" cy="256032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600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T€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2219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Sanitär, Umkleiden, Innenausbau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83480" y="2350008"/>
            <a:ext cx="1193932" cy="256032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22219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T€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8437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Brandschutz, Planung, Genehmigung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83480" y="2971800"/>
            <a:ext cx="818696" cy="256032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284378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T€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4655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Technik, Heizung, Akustik, 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83480" y="3593592"/>
            <a:ext cx="909662" cy="256032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346557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T€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0873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Erstausstattung, Bauleitung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83480" y="4215384"/>
            <a:ext cx="591280" cy="256032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4087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T€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Sicherheitspuffer 15 %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983480" y="4837176"/>
            <a:ext cx="852808" cy="256032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709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T€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86800" y="1600200"/>
            <a:ext cx="2834640" cy="3703320"/>
          </a:xfrm>
          <a:prstGeom prst="roundRect">
            <a:avLst>
              <a:gd name="adj" fmla="val 2581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577 T€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96112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96112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+ 80 T€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96112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Liquiditätsreserve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die Anlaufphase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0" y="4526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657 T€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961120" y="5010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Gesamtkapitalbedarf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Zusätzlich erforderlich: Kontokorrentrahmen von 77 T€ zur Zwischenfinanzierung der Vorsteuer (109.687 €).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MITTELHERKUNFT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Finanzierungsanfrage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7315200" cy="658368"/>
          </a:xfrm>
          <a:prstGeom prst="roundRect">
            <a:avLst>
              <a:gd name="adj" fmla="val 1111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92224"/>
            <a:ext cx="219456" cy="21945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57276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Eigenkapital (bar)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46320" y="15727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eingebracht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49440" y="157276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7315200" cy="658368"/>
          </a:xfrm>
          <a:prstGeom prst="roundRect">
            <a:avLst>
              <a:gd name="adj" fmla="val 1111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569464"/>
            <a:ext cx="219456" cy="21945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35000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Founding-Member-Vorverkauf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23500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× 499 €, Kundenvorkasse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49440" y="235000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127248"/>
            <a:ext cx="7315200" cy="658368"/>
          </a:xfrm>
          <a:prstGeom prst="roundRect">
            <a:avLst>
              <a:gd name="adj" fmla="val 1111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346704"/>
            <a:ext cx="219456" cy="21945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1272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KfW ERP-Gründerkredit StartGeld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0" y="312724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Jahre, 2 tilgungsfrei, 80 % Haftungsfreistellung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49440" y="312724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T€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904488"/>
            <a:ext cx="7315200" cy="658368"/>
          </a:xfrm>
          <a:prstGeom prst="roundRect">
            <a:avLst>
              <a:gd name="adj" fmla="val 1111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123944"/>
            <a:ext cx="219456" cy="21945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9044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LfA Startkredit / GuW Bayern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39044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Jahre, 3 tilgungsfrei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9440" y="390448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T€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81728"/>
            <a:ext cx="7315200" cy="658368"/>
          </a:xfrm>
          <a:prstGeom prst="roundRect">
            <a:avLst>
              <a:gd name="adj" fmla="val 1111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901184"/>
            <a:ext cx="219456" cy="21945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46817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Mietkauf Courts und Beleuchtung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46320" y="46817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Jahre, Courts als Sicherheit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49440" y="468172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T€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21040" y="1572768"/>
            <a:ext cx="3200400" cy="3264408"/>
          </a:xfrm>
          <a:prstGeom prst="roundRect">
            <a:avLst>
              <a:gd name="adj" fmla="val 228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 an die Bank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95360" y="21214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507 T€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8595360" y="2816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Fremdkapital gesamt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595360" y="33649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22,8 %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595360" y="387705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Eigenkapitalquote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der 20-%-Schwelle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486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Sicherheiten: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423160" y="548640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Einbauten stehen in fremdem Eigentum und taugen nicht als Bankensicherheit. Vorgesehen ist eine Ausfallbürgschaft der Bürgschaftsbank Bayern von bis zu 80 % — die Zusage wird im BoB-Verfahren vorab eingeholt.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BELASTBARKEIT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Break-even und Sensitivität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46,2 %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Break-even-Auslastung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Jahr 3: 50,9 %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Sicherheitsabstand 4,7 Punkte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3200400" cy="2057400"/>
          </a:xfrm>
          <a:prstGeom prst="roundRect">
            <a:avLst>
              <a:gd name="adj" fmla="val 355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13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Hebel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24528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Zehn Prozent Auslastung bewegen das EBITDA um rund 46 T€ — mehr als jede denkbare Kosteneinsparung. Vertrieb ist die Hauptaufgabe der Geschäftsführung.</a:t>
            </a:r>
            <a:endParaRPr lang="en-US" sz="11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160520" y="1554480"/>
          <a:ext cx="73609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= Auslastung −10 %, Energie +30 %, Kaltmiete +1,00 €/m² gleichzeitig. Cashflow dann −45 T€ — die Liquiditätsreserve trägt ein solches Jahr.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Risiken und Gegenmaßnahmen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9222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Halle mit ausreichender Höhe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17320" y="2103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Suchradius 20 km, Teilflächen aus großen Logistikhallen verhandeln, Leichtbauhalle als Plan 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57276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79222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73736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Nutzungsänderung wird nicht genehmigt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40880" y="2103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Bauvoranfrage vor Mietvertrag; Mietvertrag mit aufschiebender Bedingung Baugenehmigung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05409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327355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2186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Brandschutz teurer als geplant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17320" y="358444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Sachverständiger besichtigt vor Vertragsunterschrift; Kostenteilung mit dem Vermieter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05409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327355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32186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Auslastung bleibt unter Plan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40880" y="358444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Abo- und Firmenvertrieb, Off-Peak-Flat, Winterkooperation mit dem Tennisverein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535424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475488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70001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Energiepreisanstieg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417320" y="506577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buchungsgesteuert, 14–16 °C Hallentemperatur, Festpreisvertrag über 24 Monate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535424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9672" y="475488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470001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Nachfrage flaut langfristig ab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40880" y="506577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 sind demontierbar und wiederverkäuflich, die Halle ist gemietet — genau das ist der Vorteil des Modells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der Zusage zur Eröffnung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2821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 1–3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5727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Vorbereitung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157276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Standortsuche, Marktbesuche, Vorgespräche mit Bank und Bürgschaftsbank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248716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331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 3–5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331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 sichern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3317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Besichtigungen mit Höhenaufmaß, Bauvoranfrage, Mietvertrag mit aufschiebender Bedingung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090672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24612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09067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 4–6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0906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Finanzierung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09067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GmbH-Gründung, drei Court-Angebote, Finanzierungszusage, Bauantrag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8680" y="400507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84962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 6–9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384962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Umbau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3849624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Boden, Brandschutz, Sanitär, Court-Montage, Beleuchtung, IT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608576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76402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608576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 7–10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34640" y="460857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Vorvermarktung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4608576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Members, Kooperationen, Firmenkunden, Sponsoren, Presse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8680" y="552297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522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17320" y="536752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 10–12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834640" y="53675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Eröffnung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20640" y="536752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Opening, Open Weekend, Schnupperkurse, Start der Hausliga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Erteilung der Baugenehmigung wird nichts bestellt, was Anzahlung kostet.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ANFRAGE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507.300 € Fremdkapital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299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150.000 € Eigenkapital und 22,8 % Eigenkapitalquote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2C3670"/>
          </a:solidFill>
          <a:ln w="12700">
            <a:solidFill>
              <a:srgbClr val="2C36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992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 T€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547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KfW StartGeld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822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Haftungsfreistellung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8346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2C3670"/>
          </a:solidFill>
          <a:ln w="12700">
            <a:solidFill>
              <a:srgbClr val="2C36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9992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252 T€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3547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LfA Bayern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822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Jahre Zinsbindung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28346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2C3670"/>
          </a:solidFill>
          <a:ln w="12700">
            <a:solidFill>
              <a:srgbClr val="2C36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9992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 T€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9600" y="3547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Mietkauf Courts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3822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Hersteller/Leasinggeber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Bürgschaftszusage der Bürgschaftsbank Bayern im BoB-Verfahren einholen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Bauvoranfrage stellen, sobald das Zielobjekt feststeht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schriftliche Court-Angebote und verbindliches Mietangebot vorlegen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Finanzierungsentscheidung auf dieser Grundlage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Bankpräsentation Padel-Halle Landshut</dc:title>
  <dc:subject>PptxGenJS Presentation</dc:subject>
  <dc:creator>Padel Landshut GmbH i. G.</dc:creator>
  <cp:lastModifiedBy>Padel Landshut GmbH i. G.</cp:lastModifiedBy>
  <cp:revision>1</cp:revision>
  <dcterms:created xsi:type="dcterms:W3CDTF">2026-07-29T12:15:30Z</dcterms:created>
  <dcterms:modified xsi:type="dcterms:W3CDTF">2026-07-29T12:15:30Z</dcterms:modified>
</cp:coreProperties>
</file>